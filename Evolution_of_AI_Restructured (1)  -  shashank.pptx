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51" d="100"/>
          <a:sy n="51" d="100"/>
        </p:scale>
        <p:origin x="88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5752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5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0"/>
            <a:ext cx="4693615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778240" y="914400"/>
            <a:ext cx="3108960" cy="3108960"/>
          </a:xfrm>
          <a:prstGeom prst="ellipse">
            <a:avLst/>
          </a:prstGeom>
          <a:solidFill>
            <a:srgbClr val="132F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692640" y="1828800"/>
            <a:ext cx="1463040" cy="1463040"/>
          </a:xfrm>
          <a:prstGeom prst="ellipse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brain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224028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0" y="4206240"/>
            <a:ext cx="822960" cy="822960"/>
          </a:xfrm>
          <a:prstGeom prst="ellipse">
            <a:avLst/>
          </a:prstGeom>
          <a:solidFill>
            <a:srgbClr val="2F86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0698480" y="4846320"/>
            <a:ext cx="548640" cy="548640"/>
          </a:xfrm>
          <a:prstGeom prst="ellipse">
            <a:avLst/>
          </a:prstGeom>
          <a:solidFill>
            <a:srgbClr val="132F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640080" y="1554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86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BCA  •  ARTIFICIAL INTELLIGENCE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96596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of
</a:t>
            </a:r>
            <a:r>
              <a:rPr lang="en-US" sz="40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520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Early AI to the Future of Intelligent Systems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5394960"/>
            <a:ext cx="914400" cy="0"/>
          </a:xfrm>
          <a:prstGeom prst="line">
            <a:avLst/>
          </a:prstGeom>
          <a:noFill/>
          <a:ln w="25400">
            <a:solidFill>
              <a:srgbClr val="2F86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640080" y="55778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Shashank M</a:t>
            </a: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BCA — Bachelor of Computer Applications  |  Batch 2024–2027
Alliance University, Bengaluru
August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86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Artificial Intelligence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E8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7724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the science of building machines that can think, learn, and make decisions like humans.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E8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457200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History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14884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term “Artificial Intelligence” was coined in 1956 at the Dartmouth Conference, marking the birth of AI as a field.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55448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E8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836676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 Matters Today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14884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boosts productivity, automates repetitive work, and powers smarter decisions across every industry.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EVERYDAY LIFE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623060" y="4773168"/>
            <a:ext cx="548640" cy="548640"/>
          </a:xfrm>
          <a:prstGeom prst="ellipse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0" descr="icons/map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788" y="4882896"/>
            <a:ext cx="329184" cy="329184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40080" y="54132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56875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AEC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traffic &amp; fastest routes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383280" y="45720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4457700" y="4773168"/>
            <a:ext cx="548640" cy="548640"/>
          </a:xfrm>
          <a:prstGeom prst="ellipse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1" descr="icons/mic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428" y="4882896"/>
            <a:ext cx="329184" cy="32918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3474720" y="54132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Siri / Alexa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3520440" y="56875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AEC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 &amp; responds to voice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217920" y="45720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1"/>
          <p:cNvSpPr/>
          <p:nvPr/>
        </p:nvSpPr>
        <p:spPr>
          <a:xfrm>
            <a:off x="7292340" y="4773168"/>
            <a:ext cx="548640" cy="548640"/>
          </a:xfrm>
          <a:prstGeom prst="ellipse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2" descr="icons/film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2068" y="4882896"/>
            <a:ext cx="329184" cy="329184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309360" y="54132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</a:t>
            </a:r>
            <a:endParaRPr lang="en-US" sz="1250" dirty="0"/>
          </a:p>
        </p:txBody>
      </p:sp>
      <p:sp>
        <p:nvSpPr>
          <p:cNvPr id="28" name="Text 23"/>
          <p:cNvSpPr txBox="1"/>
          <p:nvPr/>
        </p:nvSpPr>
        <p:spPr>
          <a:xfrm>
            <a:off x="6355080" y="56875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AEC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Recommends shows you'll love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9052560" y="45720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5"/>
          <p:cNvSpPr/>
          <p:nvPr/>
        </p:nvSpPr>
        <p:spPr>
          <a:xfrm>
            <a:off x="10126980" y="4773168"/>
            <a:ext cx="548640" cy="548640"/>
          </a:xfrm>
          <a:prstGeom prst="ellipse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3" descr="icons/comments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6708" y="4882896"/>
            <a:ext cx="329184" cy="329184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144000" y="54132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50" dirty="0"/>
          </a:p>
        </p:txBody>
      </p:sp>
      <p:sp>
        <p:nvSpPr>
          <p:cNvPr id="33" name="Text 27"/>
          <p:cNvSpPr txBox="1"/>
          <p:nvPr/>
        </p:nvSpPr>
        <p:spPr>
          <a:xfrm>
            <a:off x="9189720" y="56875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AEC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questions, writes &amp; explains</a:t>
            </a:r>
            <a:endParaRPr lang="en-US" sz="950" dirty="0"/>
          </a:p>
        </p:txBody>
      </p:sp>
      <p:sp>
        <p:nvSpPr>
          <p:cNvPr id="34" name="Text 2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OF ARTIFICIAL INTELLIGENCE</a:t>
            </a:r>
            <a:endParaRPr lang="en-US" sz="800" dirty="0"/>
          </a:p>
        </p:txBody>
      </p:sp>
      <p:sp>
        <p:nvSpPr>
          <p:cNvPr id="35" name="Text 2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86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AI (1950s – 1980s)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systems that followed fixed, hand-coded logic — no learning from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2834640"/>
            <a:ext cx="10332720" cy="0"/>
          </a:xfrm>
          <a:prstGeom prst="line">
            <a:avLst/>
          </a:prstGeom>
          <a:noFill/>
          <a:ln w="38100">
            <a:solidFill>
              <a:srgbClr val="AEC6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13816" y="2734056"/>
            <a:ext cx="201168" cy="201168"/>
          </a:xfrm>
          <a:prstGeom prst="ellipse">
            <a:avLst/>
          </a:prstGeom>
          <a:solidFill>
            <a:srgbClr val="2F86E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91440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1950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-45720" y="22128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Turing Test proposed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96996" y="2734056"/>
            <a:ext cx="201168" cy="201168"/>
          </a:xfrm>
          <a:prstGeom prst="ellipse">
            <a:avLst/>
          </a:prstGeom>
          <a:solidFill>
            <a:srgbClr val="2F86E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2674620" y="30358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1956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537460" y="3383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“AI” term coined at Dartmouth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80176" y="2734056"/>
            <a:ext cx="201168" cy="201168"/>
          </a:xfrm>
          <a:prstGeom prst="ellipse">
            <a:avLst/>
          </a:prstGeom>
          <a:solidFill>
            <a:srgbClr val="2F86E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257800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1966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2128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 — first chatbot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563356" y="2734056"/>
            <a:ext cx="201168" cy="201168"/>
          </a:xfrm>
          <a:prstGeom prst="ellipse">
            <a:avLst/>
          </a:prstGeom>
          <a:solidFill>
            <a:srgbClr val="2F86E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7840980" y="30358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1980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03820" y="3383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systems rise (MYCIN)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1146536" y="2734056"/>
            <a:ext cx="201168" cy="201168"/>
          </a:xfrm>
          <a:prstGeom prst="ellipse">
            <a:avLst/>
          </a:prstGeom>
          <a:solidFill>
            <a:srgbClr val="2F86E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10424160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1987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0287000" y="22128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“AI Winter” — funding declines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E8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777240" y="550468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
</a:t>
            </a: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for narrow, well-defined problems.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0" y="539496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6172200" y="550468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AEC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
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not learn, adapt, or handle uncertainty.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OF ARTIFICIAL INTELLIGENCE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86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lets machines learn patterns from data instead of following fixed rules.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icons/databas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121408"/>
            <a:ext cx="283464" cy="28346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0391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517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C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from labeled data (e.g., spam vs. not spam)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97680" y="17830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526280" y="2011680"/>
            <a:ext cx="502920" cy="502920"/>
          </a:xfrm>
          <a:prstGeom prst="ellipse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icons/cogs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2121408"/>
            <a:ext cx="283464" cy="2834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166360" y="20391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6517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C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hidden patterns in unlabeled data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46720" y="17830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8275320" y="2011680"/>
            <a:ext cx="502920" cy="502920"/>
          </a:xfrm>
          <a:prstGeom prst="ellipse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icons/brain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2121408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915400" y="20391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Reinforcement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275320" y="26517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C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via trial, error &amp; rewards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4114800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E8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 txBox="1"/>
          <p:nvPr/>
        </p:nvSpPr>
        <p:spPr>
          <a:xfrm>
            <a:off x="548640" y="4114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400" dirty="0"/>
          </a:p>
        </p:txBody>
      </p:sp>
      <p:pic>
        <p:nvPicPr>
          <p:cNvPr id="23" name="Image 3" descr="icons/arrow-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9232" y="4384548"/>
            <a:ext cx="237744" cy="237744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3383280" y="4114800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E8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 txBox="1"/>
          <p:nvPr/>
        </p:nvSpPr>
        <p:spPr>
          <a:xfrm>
            <a:off x="3383280" y="4114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400" dirty="0"/>
          </a:p>
        </p:txBody>
      </p:sp>
      <p:pic>
        <p:nvPicPr>
          <p:cNvPr id="26" name="Image 4" descr="icons/arrow-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3872" y="4384548"/>
            <a:ext cx="237744" cy="237744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6217920" y="4114800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E8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1"/>
          <p:cNvSpPr txBox="1"/>
          <p:nvPr/>
        </p:nvSpPr>
        <p:spPr>
          <a:xfrm>
            <a:off x="6217920" y="4114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400" dirty="0"/>
          </a:p>
        </p:txBody>
      </p:sp>
      <p:pic>
        <p:nvPicPr>
          <p:cNvPr id="29" name="Image 5" descr="icons/arrow-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8512" y="4384548"/>
            <a:ext cx="237744" cy="237744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9052560" y="4114800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E8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3"/>
          <p:cNvSpPr txBox="1"/>
          <p:nvPr/>
        </p:nvSpPr>
        <p:spPr>
          <a:xfrm>
            <a:off x="9052560" y="4114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400" dirty="0"/>
          </a:p>
        </p:txBody>
      </p:sp>
      <p:sp>
        <p:nvSpPr>
          <p:cNvPr id="32" name="Shape 24"/>
          <p:cNvSpPr/>
          <p:nvPr/>
        </p:nvSpPr>
        <p:spPr>
          <a:xfrm>
            <a:off x="548640" y="525780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D7E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5"/>
          <p:cNvSpPr txBox="1"/>
          <p:nvPr/>
        </p:nvSpPr>
        <p:spPr>
          <a:xfrm>
            <a:off x="777240" y="53675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REAL-LIFE EXAMPLES
</a:t>
            </a: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detection, Netflix recommendations, fraud detection.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5943600" y="525780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D7E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7"/>
          <p:cNvSpPr txBox="1"/>
          <p:nvPr/>
        </p:nvSpPr>
        <p:spPr>
          <a:xfrm>
            <a:off x="6172200" y="536752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 &amp; CHALLENGE
</a:t>
            </a: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with more data, but needs large, high-quality datasets and can inherit bias.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OF ARTIFICIAL INTELLIGENCE</a:t>
            </a:r>
            <a:endParaRPr lang="en-US" sz="800" dirty="0"/>
          </a:p>
        </p:txBody>
      </p:sp>
      <p:sp>
        <p:nvSpPr>
          <p:cNvPr id="37" name="Text 2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EC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C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subset of ML using multi-layered artificial neural networks, inspired by the human brain.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63040" y="1965960"/>
            <a:ext cx="2377440" cy="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463040" y="1965960"/>
            <a:ext cx="2377440" cy="73152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463040" y="1965960"/>
            <a:ext cx="2377440" cy="146304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463040" y="1965960"/>
            <a:ext cx="2377440" cy="219456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463040" y="3063240"/>
            <a:ext cx="2377440" cy="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463040" y="3063240"/>
            <a:ext cx="2377440" cy="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463040" y="3063240"/>
            <a:ext cx="2377440" cy="36576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463040" y="3063240"/>
            <a:ext cx="2377440" cy="109728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463040" y="4160520"/>
            <a:ext cx="2377440" cy="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463040" y="4160520"/>
            <a:ext cx="2377440" cy="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463040" y="4160520"/>
            <a:ext cx="2377440" cy="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463040" y="4160520"/>
            <a:ext cx="2377440" cy="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840480" y="1965960"/>
            <a:ext cx="2377440" cy="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840480" y="1965960"/>
            <a:ext cx="2377440" cy="73152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840480" y="1965960"/>
            <a:ext cx="2377440" cy="146304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840480" y="1965960"/>
            <a:ext cx="2377440" cy="219456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840480" y="2697480"/>
            <a:ext cx="2377440" cy="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840480" y="2697480"/>
            <a:ext cx="2377440" cy="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840480" y="2697480"/>
            <a:ext cx="2377440" cy="73152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840480" y="2697480"/>
            <a:ext cx="2377440" cy="146304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840480" y="3429000"/>
            <a:ext cx="2377440" cy="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840480" y="3429000"/>
            <a:ext cx="2377440" cy="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840480" y="3429000"/>
            <a:ext cx="2377440" cy="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840480" y="3429000"/>
            <a:ext cx="2377440" cy="73152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840480" y="4160520"/>
            <a:ext cx="2377440" cy="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840480" y="4160520"/>
            <a:ext cx="2377440" cy="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840480" y="4160520"/>
            <a:ext cx="2377440" cy="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840480" y="4160520"/>
            <a:ext cx="2377440" cy="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217920" y="1965960"/>
            <a:ext cx="2377440" cy="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217920" y="1965960"/>
            <a:ext cx="2377440" cy="219456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217920" y="2697480"/>
            <a:ext cx="2377440" cy="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217920" y="2697480"/>
            <a:ext cx="2377440" cy="146304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217920" y="3429000"/>
            <a:ext cx="2377440" cy="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217920" y="3429000"/>
            <a:ext cx="2377440" cy="73152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217920" y="4160520"/>
            <a:ext cx="2377440" cy="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217920" y="4160520"/>
            <a:ext cx="2377440" cy="0"/>
          </a:xfrm>
          <a:prstGeom prst="line">
            <a:avLst/>
          </a:prstGeom>
          <a:noFill/>
          <a:ln w="9525">
            <a:solidFill>
              <a:srgbClr val="132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1335024" y="1837944"/>
            <a:ext cx="256032" cy="256032"/>
          </a:xfrm>
          <a:prstGeom prst="ellipse">
            <a:avLst/>
          </a:prstGeom>
          <a:solidFill>
            <a:srgbClr val="2F86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1335024" y="2935224"/>
            <a:ext cx="256032" cy="256032"/>
          </a:xfrm>
          <a:prstGeom prst="ellipse">
            <a:avLst/>
          </a:prstGeom>
          <a:solidFill>
            <a:srgbClr val="2F86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1335024" y="4032504"/>
            <a:ext cx="256032" cy="256032"/>
          </a:xfrm>
          <a:prstGeom prst="ellipse">
            <a:avLst/>
          </a:prstGeom>
          <a:solidFill>
            <a:srgbClr val="2F86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 txBox="1"/>
          <p:nvPr/>
        </p:nvSpPr>
        <p:spPr>
          <a:xfrm>
            <a:off x="914400" y="4389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C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712464" y="1837944"/>
            <a:ext cx="256032" cy="256032"/>
          </a:xfrm>
          <a:prstGeom prst="ellipse">
            <a:avLst/>
          </a:prstGeom>
          <a:solidFill>
            <a:srgbClr val="1E5AA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3712464" y="2569464"/>
            <a:ext cx="256032" cy="256032"/>
          </a:xfrm>
          <a:prstGeom prst="ellipse">
            <a:avLst/>
          </a:prstGeom>
          <a:solidFill>
            <a:srgbClr val="1E5AA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3712464" y="3300984"/>
            <a:ext cx="256032" cy="256032"/>
          </a:xfrm>
          <a:prstGeom prst="ellipse">
            <a:avLst/>
          </a:prstGeom>
          <a:solidFill>
            <a:srgbClr val="1E5AA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3712464" y="4032504"/>
            <a:ext cx="256032" cy="256032"/>
          </a:xfrm>
          <a:prstGeom prst="ellipse">
            <a:avLst/>
          </a:prstGeom>
          <a:solidFill>
            <a:srgbClr val="1E5AA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 txBox="1"/>
          <p:nvPr/>
        </p:nvSpPr>
        <p:spPr>
          <a:xfrm>
            <a:off x="3291840" y="4389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C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089904" y="1837944"/>
            <a:ext cx="256032" cy="256032"/>
          </a:xfrm>
          <a:prstGeom prst="ellipse">
            <a:avLst/>
          </a:prstGeom>
          <a:solidFill>
            <a:srgbClr val="1E5AA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6089904" y="2569464"/>
            <a:ext cx="256032" cy="256032"/>
          </a:xfrm>
          <a:prstGeom prst="ellipse">
            <a:avLst/>
          </a:prstGeom>
          <a:solidFill>
            <a:srgbClr val="1E5AA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6089904" y="3300984"/>
            <a:ext cx="256032" cy="256032"/>
          </a:xfrm>
          <a:prstGeom prst="ellipse">
            <a:avLst/>
          </a:prstGeom>
          <a:solidFill>
            <a:srgbClr val="1E5AA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6089904" y="4032504"/>
            <a:ext cx="256032" cy="256032"/>
          </a:xfrm>
          <a:prstGeom prst="ellipse">
            <a:avLst/>
          </a:prstGeom>
          <a:solidFill>
            <a:srgbClr val="1E5AA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 txBox="1"/>
          <p:nvPr/>
        </p:nvSpPr>
        <p:spPr>
          <a:xfrm>
            <a:off x="5669280" y="4389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C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467344" y="1837944"/>
            <a:ext cx="256032" cy="256032"/>
          </a:xfrm>
          <a:prstGeom prst="ellipse">
            <a:avLst/>
          </a:prstGeom>
          <a:solidFill>
            <a:srgbClr val="2F86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8467344" y="4032504"/>
            <a:ext cx="256032" cy="256032"/>
          </a:xfrm>
          <a:prstGeom prst="ellipse">
            <a:avLst/>
          </a:prstGeom>
          <a:solidFill>
            <a:srgbClr val="2F86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 txBox="1"/>
          <p:nvPr/>
        </p:nvSpPr>
        <p:spPr>
          <a:xfrm>
            <a:off x="8046720" y="4389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C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48640" y="502920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132F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 txBox="1"/>
          <p:nvPr/>
        </p:nvSpPr>
        <p:spPr>
          <a:xfrm>
            <a:off x="713232" y="514807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2F86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VS DL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713232" y="544068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needs manual feature selection; DL learns features automatically.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383280" y="502920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132F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 txBox="1"/>
          <p:nvPr/>
        </p:nvSpPr>
        <p:spPr>
          <a:xfrm>
            <a:off x="3547872" y="514807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2F86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EXAMPLES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3547872" y="544068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recognition, self-driving cars, voice assistants.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217920" y="502920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132F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 txBox="1"/>
          <p:nvPr/>
        </p:nvSpPr>
        <p:spPr>
          <a:xfrm>
            <a:off x="6382512" y="514807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2F86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6382512" y="544068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Extremely accurate on images, speech &amp; text.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9052560" y="502920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132F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 txBox="1"/>
          <p:nvPr/>
        </p:nvSpPr>
        <p:spPr>
          <a:xfrm>
            <a:off x="9217152" y="514807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2F86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9217152" y="544068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huge data &amp; compute; hard to interpret (“black box”).</a:t>
            </a:r>
            <a:endParaRPr lang="en-US" sz="950" dirty="0"/>
          </a:p>
        </p:txBody>
      </p:sp>
      <p:sp>
        <p:nvSpPr>
          <p:cNvPr id="70" name="Text 6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OF ARTIFICIAL INTELLIGENCE</a:t>
            </a:r>
            <a:endParaRPr lang="en-US" sz="800" dirty="0"/>
          </a:p>
        </p:txBody>
      </p:sp>
      <p:sp>
        <p:nvSpPr>
          <p:cNvPr id="71" name="Text 6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86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that creates brand-new content — text, images, music &amp; video — rather than just analyzing data.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TOOLS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239012" cy="45720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48640" y="2103120"/>
            <a:ext cx="1239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70532" y="2103120"/>
            <a:ext cx="1133856" cy="45720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970532" y="210312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87268" y="2103120"/>
            <a:ext cx="1133856" cy="45720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287268" y="210312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04004" y="210312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604004" y="2103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Midjourney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41364" y="2103120"/>
            <a:ext cx="1133856" cy="45720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341364" y="210312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DALL·E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834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CAN GENERATE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E8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623060" y="3401568"/>
            <a:ext cx="548640" cy="548640"/>
          </a:xfrm>
          <a:prstGeom prst="ellipse">
            <a:avLst/>
          </a:prstGeom>
          <a:solidFill>
            <a:srgbClr val="2F86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0" descr="icons/pen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788" y="3511296"/>
            <a:ext cx="329184" cy="329184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548640" y="41148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383280" y="320040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E8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4457700" y="3401568"/>
            <a:ext cx="548640" cy="548640"/>
          </a:xfrm>
          <a:prstGeom prst="ellipse">
            <a:avLst/>
          </a:prstGeom>
          <a:solidFill>
            <a:srgbClr val="2F86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1" descr="icons/imag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428" y="3511296"/>
            <a:ext cx="329184" cy="32918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3383280" y="41148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217920" y="320040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E8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7292340" y="3401568"/>
            <a:ext cx="548640" cy="548640"/>
          </a:xfrm>
          <a:prstGeom prst="ellipse">
            <a:avLst/>
          </a:prstGeom>
          <a:solidFill>
            <a:srgbClr val="2F86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2" descr="icons/music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2068" y="3511296"/>
            <a:ext cx="329184" cy="32918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217920" y="41148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9052560" y="320040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E8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5"/>
          <p:cNvSpPr/>
          <p:nvPr/>
        </p:nvSpPr>
        <p:spPr>
          <a:xfrm>
            <a:off x="10126980" y="3401568"/>
            <a:ext cx="548640" cy="548640"/>
          </a:xfrm>
          <a:prstGeom prst="ellipse">
            <a:avLst/>
          </a:prstGeom>
          <a:solidFill>
            <a:srgbClr val="2F86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3" descr="icons/play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6708" y="3511296"/>
            <a:ext cx="329184" cy="329184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052560" y="41148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548640" y="48920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 txBox="1"/>
          <p:nvPr/>
        </p:nvSpPr>
        <p:spPr>
          <a:xfrm>
            <a:off x="777240" y="5010912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AEC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
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Massively speeds up creative &amp; knowledge work across content writing, art &amp; design, coding help, and music composition.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594360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D7E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0"/>
          <p:cNvSpPr txBox="1"/>
          <p:nvPr/>
        </p:nvSpPr>
        <p:spPr>
          <a:xfrm>
            <a:off x="6172200" y="5010912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CHALLENGES
</a:t>
            </a: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Misinformation, deepfakes, copyright questions, and job-impact concerns.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OF ARTIFICIAL INTELLIGENCE</a:t>
            </a:r>
            <a:endParaRPr lang="en-US" sz="800" dirty="0"/>
          </a:p>
        </p:txBody>
      </p:sp>
      <p:sp>
        <p:nvSpPr>
          <p:cNvPr id="38" name="Text 32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86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AHEAD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Trends in AI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1560" y="3703320"/>
            <a:ext cx="10104120" cy="0"/>
          </a:xfrm>
          <a:prstGeom prst="line">
            <a:avLst/>
          </a:prstGeom>
          <a:noFill/>
          <a:ln w="38100">
            <a:solidFill>
              <a:srgbClr val="AEC6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95528" y="3447288"/>
            <a:ext cx="512064" cy="512064"/>
          </a:xfrm>
          <a:prstGeom prst="ellipse">
            <a:avLst/>
          </a:prstGeom>
          <a:solidFill>
            <a:srgbClr val="1E5AA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icons/rocke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557016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42900" y="2286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General Intelligence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342900" y="27889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Reasons across any task, like a human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238974" y="3447288"/>
            <a:ext cx="512064" cy="512064"/>
          </a:xfrm>
          <a:prstGeom prst="ellipse">
            <a:avLst/>
          </a:prstGeom>
          <a:solidFill>
            <a:srgbClr val="1E5AA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icons/heartbea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8702" y="355701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786346" y="408736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Healthcare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1786346" y="4572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diagnosis &amp; personalized treatment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3682419" y="3447288"/>
            <a:ext cx="512064" cy="512064"/>
          </a:xfrm>
          <a:prstGeom prst="ellipse">
            <a:avLst/>
          </a:prstGeom>
          <a:solidFill>
            <a:srgbClr val="1E5AA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icons/graduation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2147" y="355701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229791" y="2286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Education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3229791" y="27889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Personalized, adaptive learning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5125865" y="3447288"/>
            <a:ext cx="512064" cy="512064"/>
          </a:xfrm>
          <a:prstGeom prst="ellipse">
            <a:avLst/>
          </a:prstGeom>
          <a:solidFill>
            <a:srgbClr val="1E5AA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3" descr="icons/cogs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5593" y="355701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673237" y="408736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</a:t>
            </a:r>
            <a:endParaRPr lang="en-US" sz="950" dirty="0"/>
          </a:p>
        </p:txBody>
      </p:sp>
      <p:sp>
        <p:nvSpPr>
          <p:cNvPr id="20" name="Text 14"/>
          <p:cNvSpPr txBox="1"/>
          <p:nvPr/>
        </p:nvSpPr>
        <p:spPr>
          <a:xfrm>
            <a:off x="4673237" y="4572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Smarter machines for industry &amp; daily life</a:t>
            </a:r>
            <a:endParaRPr lang="en-US" sz="800" dirty="0"/>
          </a:p>
        </p:txBody>
      </p:sp>
      <p:sp>
        <p:nvSpPr>
          <p:cNvPr id="21" name="Shape 15"/>
          <p:cNvSpPr/>
          <p:nvPr/>
        </p:nvSpPr>
        <p:spPr>
          <a:xfrm>
            <a:off x="6569311" y="3447288"/>
            <a:ext cx="512064" cy="512064"/>
          </a:xfrm>
          <a:prstGeom prst="ellipse">
            <a:avLst/>
          </a:prstGeom>
          <a:solidFill>
            <a:srgbClr val="1E5AA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4" descr="icons/car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9039" y="3557016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116683" y="2286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Vehicles</a:t>
            </a:r>
            <a:endParaRPr lang="en-US" sz="950" dirty="0"/>
          </a:p>
        </p:txBody>
      </p:sp>
      <p:sp>
        <p:nvSpPr>
          <p:cNvPr id="24" name="Text 17"/>
          <p:cNvSpPr txBox="1"/>
          <p:nvPr/>
        </p:nvSpPr>
        <p:spPr>
          <a:xfrm>
            <a:off x="6116683" y="27889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Self-driving cars navigating real roads</a:t>
            </a:r>
            <a:endParaRPr lang="en-US" sz="800" dirty="0"/>
          </a:p>
        </p:txBody>
      </p:sp>
      <p:sp>
        <p:nvSpPr>
          <p:cNvPr id="25" name="Shape 18"/>
          <p:cNvSpPr/>
          <p:nvPr/>
        </p:nvSpPr>
        <p:spPr>
          <a:xfrm>
            <a:off x="8012757" y="3447288"/>
            <a:ext cx="512064" cy="512064"/>
          </a:xfrm>
          <a:prstGeom prst="ellipse">
            <a:avLst/>
          </a:prstGeom>
          <a:solidFill>
            <a:srgbClr val="1E5AA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5" descr="icons/wifi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2485" y="3557016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560129" y="408736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+ IoT</a:t>
            </a:r>
            <a:endParaRPr lang="en-US" sz="950" dirty="0"/>
          </a:p>
        </p:txBody>
      </p:sp>
      <p:sp>
        <p:nvSpPr>
          <p:cNvPr id="28" name="Text 20"/>
          <p:cNvSpPr txBox="1"/>
          <p:nvPr/>
        </p:nvSpPr>
        <p:spPr>
          <a:xfrm>
            <a:off x="7560129" y="4572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devices that sense &amp; act together</a:t>
            </a:r>
            <a:endParaRPr lang="en-US" sz="800" dirty="0"/>
          </a:p>
        </p:txBody>
      </p:sp>
      <p:sp>
        <p:nvSpPr>
          <p:cNvPr id="29" name="Shape 21"/>
          <p:cNvSpPr/>
          <p:nvPr/>
        </p:nvSpPr>
        <p:spPr>
          <a:xfrm>
            <a:off x="9456202" y="3447288"/>
            <a:ext cx="512064" cy="512064"/>
          </a:xfrm>
          <a:prstGeom prst="ellipse">
            <a:avLst/>
          </a:prstGeom>
          <a:solidFill>
            <a:srgbClr val="1E5AA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6" descr="icons/eye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65930" y="3557016"/>
            <a:ext cx="292608" cy="292608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9003574" y="2286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</a:t>
            </a:r>
            <a:endParaRPr lang="en-US" sz="950" dirty="0"/>
          </a:p>
        </p:txBody>
      </p:sp>
      <p:sp>
        <p:nvSpPr>
          <p:cNvPr id="32" name="Text 23"/>
          <p:cNvSpPr txBox="1"/>
          <p:nvPr/>
        </p:nvSpPr>
        <p:spPr>
          <a:xfrm>
            <a:off x="9003574" y="27889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AI decisions transparent</a:t>
            </a:r>
            <a:endParaRPr lang="en-US" sz="800" dirty="0"/>
          </a:p>
        </p:txBody>
      </p:sp>
      <p:sp>
        <p:nvSpPr>
          <p:cNvPr id="33" name="Shape 24"/>
          <p:cNvSpPr/>
          <p:nvPr/>
        </p:nvSpPr>
        <p:spPr>
          <a:xfrm>
            <a:off x="10899648" y="3447288"/>
            <a:ext cx="512064" cy="512064"/>
          </a:xfrm>
          <a:prstGeom prst="ellipse">
            <a:avLst/>
          </a:prstGeom>
          <a:solidFill>
            <a:srgbClr val="1E5AA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7" descr="icons/balance-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09376" y="3557016"/>
            <a:ext cx="292608" cy="292608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10447020" y="408736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</a:t>
            </a:r>
            <a:endParaRPr lang="en-US" sz="950" dirty="0"/>
          </a:p>
        </p:txBody>
      </p:sp>
      <p:sp>
        <p:nvSpPr>
          <p:cNvPr id="36" name="Text 26"/>
          <p:cNvSpPr txBox="1"/>
          <p:nvPr/>
        </p:nvSpPr>
        <p:spPr>
          <a:xfrm>
            <a:off x="10447020" y="4572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Fair, safe &amp; ethical AI for everyone</a:t>
            </a:r>
            <a:endParaRPr lang="en-US" sz="800" dirty="0"/>
          </a:p>
        </p:txBody>
      </p:sp>
      <p:sp>
        <p:nvSpPr>
          <p:cNvPr id="37" name="Text 2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OF ARTIFICIAL INTELLIGENCE</a:t>
            </a:r>
            <a:endParaRPr lang="en-US" sz="800" dirty="0"/>
          </a:p>
        </p:txBody>
      </p:sp>
      <p:sp>
        <p:nvSpPr>
          <p:cNvPr id="38" name="Text 2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86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of AI Evolution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97480" cy="4800600"/>
          </a:xfrm>
          <a:prstGeom prst="roundRect">
            <a:avLst>
              <a:gd name="adj" fmla="val 2712"/>
            </a:avLst>
          </a:prstGeom>
          <a:solidFill>
            <a:srgbClr val="E8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E5A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772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2199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AI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IDEA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3639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Fixed, hand-coded rules &amp; logic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977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23367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systems (MYCIN)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0749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33095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learn or adapt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83280" y="1508760"/>
            <a:ext cx="2697480" cy="4800600"/>
          </a:xfrm>
          <a:prstGeom prst="roundRect">
            <a:avLst>
              <a:gd name="adj" fmla="val 2712"/>
            </a:avLst>
          </a:prstGeom>
          <a:solidFill>
            <a:srgbClr val="E8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11880" y="17373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E5A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361188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222199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28803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IDEA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611880" y="313639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patterns from data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611880" y="3977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611880" y="423367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&amp; fraud detection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611880" y="50749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611880" y="533095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large, clean datasets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1508760"/>
            <a:ext cx="2697480" cy="4800600"/>
          </a:xfrm>
          <a:prstGeom prst="roundRect">
            <a:avLst>
              <a:gd name="adj" fmla="val 2712"/>
            </a:avLst>
          </a:prstGeom>
          <a:solidFill>
            <a:srgbClr val="E8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446520" y="17373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E5A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44652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222199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28803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IDEA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313639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Multi-layer neural networks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446520" y="3977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423367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recognition, self-driving cars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446520" y="50749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533095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compute cost; “black box”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052560" y="1508760"/>
            <a:ext cx="2697480" cy="4800600"/>
          </a:xfrm>
          <a:prstGeom prst="roundRect">
            <a:avLst>
              <a:gd name="adj" fmla="val 2712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9281160" y="17373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F86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928116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9281160" y="222199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281160" y="28803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EC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IDEA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9281160" y="313639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C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new content from prompts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9281160" y="3977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EC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9281160" y="423367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C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ChatGPT, DALL·E, Midjourney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9281160" y="50749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EC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9281160" y="533095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C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Bias, misinformation, ethics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OF ARTIFICIAL INTELLIGENCE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EC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Simple Rules to Creative Machines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32F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68680" y="14630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F86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   </a:t>
            </a: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not about replacing human intelligence — it's about amplifying it, responsibly.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594360" cy="594360"/>
          </a:xfrm>
          <a:prstGeom prst="ellipse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icons/history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718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611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Remarkable Journey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0690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C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evolved from rigid rule-based systems (1950s) to machines that learn (ML), understand deeply (DL), and now create (Generative AI).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3400" y="2834640"/>
            <a:ext cx="594360" cy="594360"/>
          </a:xfrm>
          <a:prstGeom prst="ellipse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icons/shield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9718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43400" y="3611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 Matters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343400" y="40690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C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AI grows more powerful, fairness, transparency, and ethics must grow with it.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2834640"/>
            <a:ext cx="594360" cy="594360"/>
          </a:xfrm>
          <a:prstGeom prst="ellipse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icons/rocket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29718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138160" y="3611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Huge Opportunities Ahead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8138160" y="40690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C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Healthcare, education, robotics &amp; more will be transformed by responsible AI innovation.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OF ARTIFICIAL INTELLIGENCE</a:t>
            </a:r>
            <a:endParaRPr lang="en-US" sz="800" dirty="0"/>
          </a:p>
        </p:txBody>
      </p:sp>
      <p:sp>
        <p:nvSpPr>
          <p:cNvPr id="19" name="Text 1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86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607040" y="685800"/>
            <a:ext cx="548640" cy="548640"/>
          </a:xfrm>
          <a:prstGeom prst="ellipse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boo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8229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TEXTS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E8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822960" y="2148840"/>
            <a:ext cx="4709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Russell, S., &amp; Norvig, P. (2021). Artificial Intelligence: A Modern Approach (4th ed.). Pearson.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Goodfellow, I., Bengio, Y., &amp; Courville, A. (2016). Deep Learning. MIT Press.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&amp; STANDARDS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0" y="1965960"/>
            <a:ext cx="5349240" cy="3794760"/>
          </a:xfrm>
          <a:prstGeom prst="roundRect">
            <a:avLst>
              <a:gd name="adj" fmla="val 1928"/>
            </a:avLst>
          </a:prstGeom>
          <a:solidFill>
            <a:srgbClr val="E8F1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6217920" y="21488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OpenAI. (2026). OpenAI Research &amp; Documentation. openai.com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AI. (2026). Google AI Research. ai.google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IBM. (2026). IBM Artificial Intelligence. ibm.com/ai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Microsoft. (2026). Microsoft AI. microsoft.com/ai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IEEE. (2026). IEEE Artificial Intelligence Resources. ieee.org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OF ARTIFICIAL INTELLIGENCE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892</Words>
  <Application>Microsoft Office PowerPoint</Application>
  <PresentationFormat>Widescreen</PresentationFormat>
  <Paragraphs>183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Shashank M</cp:lastModifiedBy>
  <cp:revision>2</cp:revision>
  <dcterms:created xsi:type="dcterms:W3CDTF">2026-09-03T06:31:32Z</dcterms:created>
  <dcterms:modified xsi:type="dcterms:W3CDTF">2026-09-03T06:35:10Z</dcterms:modified>
</cp:coreProperties>
</file>